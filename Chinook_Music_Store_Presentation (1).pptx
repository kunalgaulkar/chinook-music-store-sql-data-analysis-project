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F3E678-029F-441C-B097-BA89C30622B6}">
  <a:tblStyle styleId="{C7F3E678-029F-441C-B097-BA89C30622B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b896f835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b896f835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8b896f835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b896f8356_0_180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b896f8356_0_18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b896f8356_0_282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b896f8356_0_28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896f8356_0_21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896f8356_0_2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p8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2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A44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CHINOOK MUSIC STORE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2D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B9C2D9"/>
                </a:solidFill>
                <a:latin typeface="Arial"/>
                <a:ea typeface="Arial"/>
                <a:cs typeface="Arial"/>
                <a:sym typeface="Arial"/>
              </a:rPr>
              <a:t>Data Analysis &amp; Growth Recommendations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731525" y="5933050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AD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rgbClr val="8592AD"/>
                </a:solidFill>
                <a:latin typeface="Arial"/>
                <a:ea typeface="Arial"/>
                <a:cs typeface="Arial"/>
                <a:sym typeface="Arial"/>
              </a:rPr>
              <a:t>Prepared by</a:t>
            </a:r>
            <a:r>
              <a:rPr lang="en-US" sz="1500">
                <a:solidFill>
                  <a:srgbClr val="8592AD"/>
                </a:solidFill>
              </a:rPr>
              <a:t> Kunal Gaulkar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731520" y="3886200"/>
            <a:ext cx="146304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4637750" y="2010425"/>
            <a:ext cx="75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 txBox="1"/>
          <p:nvPr/>
        </p:nvSpPr>
        <p:spPr>
          <a:xfrm>
            <a:off x="1067850" y="444675"/>
            <a:ext cx="98643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320">
                <a:solidFill>
                  <a:schemeClr val="dk1"/>
                </a:solidFill>
              </a:rPr>
              <a:t>Problem statement</a:t>
            </a:r>
            <a:endParaRPr sz="432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7" name="Google Shape;77;p17"/>
          <p:cNvSpPr txBox="1"/>
          <p:nvPr/>
        </p:nvSpPr>
        <p:spPr>
          <a:xfrm>
            <a:off x="566800" y="2229625"/>
            <a:ext cx="11148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</a:rPr>
              <a:t>You are hired as a data analyst at Chinook, and your objective is to analyze music record sales data to gain insights and make recommendations for the company's strategy in the physical music marke</a:t>
            </a:r>
            <a:r>
              <a:rPr lang="en-US" sz="2500">
                <a:solidFill>
                  <a:schemeClr val="dk1"/>
                </a:solidFill>
              </a:rPr>
              <a:t>t.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6"/>
              <a:buFont typeface="Arial"/>
              <a:buNone/>
            </a:pPr>
            <a:r>
              <a:rPr lang="en-US" sz="2700">
                <a:solidFill>
                  <a:schemeClr val="dk1"/>
                </a:solidFill>
              </a:rPr>
              <a:t>customer:</a:t>
            </a:r>
            <a:endParaRPr sz="27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customer_id: Unique identifier assigned to each customer.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first_name: The given name or first name of a customer.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last_name: The surname or family name of a customer.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company: The name of the company associated with a customer.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address: The street address of a customer's location.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city: The city where a customer is located.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state: The state or province where a customer is located.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country: The country where a customer is located.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postal_code: The postal or zip code of a customer's address.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phone: The phone number of a customer.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fax: The fax number associated with a customer.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email: The email address of a customer.</a:t>
            </a:r>
            <a:endParaRPr sz="2500">
              <a:solidFill>
                <a:schemeClr val="dk1"/>
              </a:solidFill>
            </a:endParaRPr>
          </a:p>
          <a:p>
            <a:pPr indent="-39211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support_rep_id: The employee ID of the support representative assigned to a customer.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invoice: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invoice_id: Unique identifier assigned to each invoice.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customer_id: The customer ID associated with the invoice.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invoice_date: The date when the invoice was generated or issued.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billing_address: The street address used for billing purposes.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billing_city: The city used for billing purposes.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billing_state: The state or province used for billing purposes.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billing_country: The country used for billing purposes.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billing_postal_code: The postal or zip code used for billing purposes.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total: The total amount due on the invoice.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4" name="Google Shape;84;p18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-US" sz="2900">
                <a:solidFill>
                  <a:srgbClr val="000000"/>
                </a:solidFill>
              </a:rPr>
              <a:t>Data description</a:t>
            </a:r>
            <a:endParaRPr b="1" sz="2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b="1" sz="2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invoice</a:t>
            </a:r>
            <a:r>
              <a:rPr lang="en-US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invoice_id: Unique identifier assigned to each invoice.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customer_id: The customer ID associated with the invoice.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invoice_date: The date when the invoice was generated or issued.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billing_address: The street address used for billing purposes.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billing_city: The city used for billing purposes.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billing_state: The state or province used for billing purposes.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billing_country: The country used for billing purposes.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billing_postal_code: The postal or zip code used for billing purposes.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total: The total amount due on the invoice.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invoice_line:</a:t>
            </a:r>
            <a:endParaRPr b="1"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invoice_line_id: Unique identifier assigned to each line item on an invoice.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invoice_id: The invoice ID to which the line item belongs.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track_id: The ID of the track or product included in the line item.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unit_price: The price per unit for the line item.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quantity: The quantity of units for the line item.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SzPts val="1200"/>
              <a:buNone/>
            </a:pPr>
            <a:r>
              <a:t/>
            </a:r>
            <a:endParaRPr sz="1600"/>
          </a:p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p</a:t>
            </a:r>
            <a:r>
              <a:rPr b="1" lang="en-US" sz="1400">
                <a:solidFill>
                  <a:schemeClr val="dk1"/>
                </a:solidFill>
              </a:rPr>
              <a:t>laylist</a:t>
            </a:r>
            <a:r>
              <a:rPr lang="en-US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playlist_id: Unique identifier assigned to each playlist.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name: The name or title of the playlist.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3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3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playlist_track</a:t>
            </a:r>
            <a:r>
              <a:rPr lang="en-US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playlist_id: The ID of the playlist to which the track belongs.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track_id: The ID of the track included in the playlist.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3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3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track</a:t>
            </a:r>
            <a:r>
              <a:rPr lang="en-US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track_id: Unique identifier assigned to each track or song.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name: The title or name of the track.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album_id: The ID of the album to which the track belongs.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media_type_id: The ID of the media type associated with the track.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genre_id: The ID of the genre associated with the track.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composer: The name of the composer or artist who composed the track.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milliseconds: The duration of the track in milliseconds.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bytes: The file size of the track in bytes.</a:t>
            </a:r>
            <a:endParaRPr sz="1400">
              <a:solidFill>
                <a:schemeClr val="dk1"/>
              </a:solidFill>
            </a:endParaRPr>
          </a:p>
          <a:p>
            <a:pPr indent="-387033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1400">
                <a:solidFill>
                  <a:schemeClr val="dk1"/>
                </a:solidFill>
              </a:rPr>
              <a:t>unit_price: The price per unit for the track.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-US" sz="2900">
                <a:solidFill>
                  <a:srgbClr val="000000"/>
                </a:solidFill>
              </a:rPr>
              <a:t>Data description</a:t>
            </a:r>
            <a:endParaRPr b="1" sz="2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b="1" sz="2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album</a:t>
            </a:r>
            <a:r>
              <a:rPr lang="en-US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album_id: Unique identifier assigned to each album.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title: The title or name of the album.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artist_id: The ID of the artist associated with the album.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artist</a:t>
            </a:r>
            <a:r>
              <a:rPr lang="en-US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artist_id: Unique identifier assigned to each artist.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name: The name of the artist.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media_type</a:t>
            </a:r>
            <a:r>
              <a:rPr lang="en-US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media_type_id: Unique identifier assigned to each media type.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name: The name or description of the media type (e.g., MPEG audio file, AAC audio file).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genre</a:t>
            </a:r>
            <a:r>
              <a:rPr lang="en-US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genre_id: Unique identifier assigned to each genre.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name: The name or description of the genre (e.g., rock, pop, classical).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8" name="Google Shape;98;p20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-US" sz="2900">
                <a:solidFill>
                  <a:srgbClr val="000000"/>
                </a:solidFill>
              </a:rPr>
              <a:t>Data description</a:t>
            </a:r>
            <a:endParaRPr b="1" sz="2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b="1" sz="2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What this deck covers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1"/>
          <p:cNvSpPr/>
          <p:nvPr/>
        </p:nvSpPr>
        <p:spPr>
          <a:xfrm>
            <a:off x="548640" y="15544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548640" y="2148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Project scope &amp; method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548640" y="2697480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How the database was explored and what questions were asked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3383280" y="15544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3383280" y="2148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Who the customers 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3383280" y="2697480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Geography, spend, loyalty and churn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/>
          <p:nvPr/>
        </p:nvSpPr>
        <p:spPr>
          <a:xfrm>
            <a:off x="6217920" y="2148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What sells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6217920" y="2697480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Genres, artists, albums and cross-sell patterns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9052560" y="15544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9052560" y="2148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9052560" y="2697480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Where to focus promotion and retention effort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Chinook is a small, global digital music store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548640" y="1554480"/>
            <a:ext cx="60350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dataset covers customers, invoices, tracks, albums, artists and genres across roughly 24 countries.</a:t>
            </a:r>
            <a:br>
              <a:rPr b="0" i="0" lang="en-US" sz="1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The analysis set out to answer two kinds of questions:</a:t>
            </a:r>
            <a:br>
              <a:rPr b="1" i="0" lang="en-US" sz="1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Objective - what does the data literally say (top sellers, revenue, churn, nulls)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Subjective - what should the business do about it (promotion, retention, cross-sell)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6949440" y="1645920"/>
            <a:ext cx="2194560" cy="1463040"/>
          </a:xfrm>
          <a:prstGeom prst="rect">
            <a:avLst/>
          </a:prstGeom>
          <a:solidFill>
            <a:srgbClr val="F7F8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6949440" y="178308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24+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6949440" y="25146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Countries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9418320" y="1645920"/>
            <a:ext cx="2194560" cy="1463040"/>
          </a:xfrm>
          <a:prstGeom prst="rect">
            <a:avLst/>
          </a:prstGeom>
          <a:solidFill>
            <a:srgbClr val="F7F8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9418320" y="178308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9418320" y="25146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Customers analyzed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6949440" y="3383280"/>
            <a:ext cx="2194560" cy="1463040"/>
          </a:xfrm>
          <a:prstGeom prst="rect">
            <a:avLst/>
          </a:prstGeom>
          <a:solidFill>
            <a:srgbClr val="F7F8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6949440" y="35204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37.3%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6949440" y="42519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90-day churn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9418320" y="3383280"/>
            <a:ext cx="2194560" cy="1463040"/>
          </a:xfrm>
          <a:prstGeom prst="rect">
            <a:avLst/>
          </a:prstGeom>
          <a:solidFill>
            <a:srgbClr val="F7F8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9418320" y="35204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9418320" y="42519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of USA sales is Rock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How the analysis was done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411480" y="219456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Map the schema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411480" y="2606040"/>
            <a:ext cx="2788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Reviewed how customer, invoice, invoice_line, track, album, artist and genre relate before writing queries.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3429000" y="160020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/>
          <p:nvPr/>
        </p:nvSpPr>
        <p:spPr>
          <a:xfrm>
            <a:off x="342900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3291840" y="219456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Check data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3291840" y="2606040"/>
            <a:ext cx="2788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Used information_schema and null counts to confirm the fields that matter (contact info, totals) are complete.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6172200" y="219456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Query in MySQL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6172200" y="2606040"/>
            <a:ext cx="2788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Joins, window functions (RANK, ROW_NUMBER) and CTEs to answer 23 objective and subjective questions.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9189720" y="1600200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918972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9052560" y="219456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Interpret for the business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9052560" y="2606040"/>
            <a:ext cx="2788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Every query result was translated into a plain-language takeaway and, where useful, a recommendation.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PRODUCT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Rock drives over half of all USA sales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0"/>
            <a:ext cx="576072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/>
          <p:nvPr/>
        </p:nvSpPr>
        <p:spPr>
          <a:xfrm>
            <a:off x="6492240" y="1737360"/>
            <a:ext cx="51206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Rock, Alternative &amp; Punk and Metal together = ~78% of USA revenue.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This concentration shows up across most other countries too - it isn't a US-only pattern.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Everything past the top 3 genres is long-tail - a small, steady contributor rather than a growth lever.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Implication: promotion budget goes furthest sticking with proven Rock/Metal catalog, at least for now.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CUSTOMER 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 small customer base spread across many countries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0"/>
            <a:ext cx="74980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/>
          <p:nvPr/>
        </p:nvSpPr>
        <p:spPr>
          <a:xfrm>
            <a:off x="8138160" y="1737360"/>
            <a:ext cx="34747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USA leads, but no single country dominates.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Most countries have just 1-2 customers each - a wide, thin footprint.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Age and gender aren't in the schema - location is the only demographic lens available today.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Growth likely comes from deepening a few markets (USA, Canada, Brazil), not chasing more countries.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USA and Canada lead on total revenue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0"/>
            <a:ext cx="74980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/>
          <p:nvPr/>
        </p:nvSpPr>
        <p:spPr>
          <a:xfrm>
            <a:off x="8138160" y="1737360"/>
            <a:ext cx="34747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Revenue mostly tracks customer count - with one exception.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Czech Republic punches above its weight - only 2 customers but the 2nd highest revenue.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Those customers are worth understanding better - what they buy and why they spend more.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CUSTOMER 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Frequency drives value more than basket size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0"/>
            <a:ext cx="74980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7"/>
          <p:cNvSpPr/>
          <p:nvPr/>
        </p:nvSpPr>
        <p:spPr>
          <a:xfrm>
            <a:off x="8138160" y="1737360"/>
            <a:ext cx="34747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Top spenders average $8-11 per order - not unusually high.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What sets them apart is how often they buy (12-18 purchases), not how much per order.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 frequency-based loyalty reward (e.g. every 10th purchase) fits this behavior better than a spend threshold.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RETENTION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Over a third of customers have gone quiet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463040"/>
            <a:ext cx="512064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8"/>
          <p:cNvSpPr/>
          <p:nvPr/>
        </p:nvSpPr>
        <p:spPr>
          <a:xfrm>
            <a:off x="822960" y="32004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37.3%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6309360" y="1737360"/>
            <a:ext cx="53035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Churn = no purchase in 90+ days.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22 of 59 customers analyzed fall into this bucket - a high rate for a low-frequency category like music downloads.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These customers weren't necessarily low-value before they went quiet - several had solid purchase histories.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Recency, not spend level, is the strongest churn signal in this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CROSS-SELL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Metal and Rock are bought together constantly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0"/>
            <a:ext cx="74980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/>
          <p:nvPr/>
        </p:nvSpPr>
        <p:spPr>
          <a:xfrm>
            <a:off x="8138160" y="1737360"/>
            <a:ext cx="34747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Genre pairings are a ready-made recommendation engine.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"If you liked this Rock track, try this Metal track" is backed directly by purchase history.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At the artist level pairs get eclectic (Green Day + Led Zeppelin) - customers shop by mood or era as much as by genre.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Worth testing mood/era playlists alongside genre-based 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Risk is driven by recency, not by how much someone spends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2" name="Google Shape;232;p30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{C7F3E678-029F-441C-B097-BA89C30622B6}</a:tableStyleId>
              </a:tblPr>
              <a:tblGrid>
                <a:gridCol w="1554475"/>
                <a:gridCol w="2743200"/>
                <a:gridCol w="3291850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 Level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Rule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means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Risk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purchase in 12+ months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Treat as a win-back target regardless of past spend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 Risk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Frequency ≤ 2, or spend below average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Early warning - hasn't lapsed yet, but engagement is thin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 Risk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Everyone else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Healthy, recently active customers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" name="Google Shape;233;p30"/>
          <p:cNvSpPr/>
          <p:nvPr/>
        </p:nvSpPr>
        <p:spPr>
          <a:xfrm>
            <a:off x="548640" y="4206240"/>
            <a:ext cx="75895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this matters: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High Risk customers in this data often had decent purchase histories before going quiet.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That means a spend-based offer (e.g. "spend $50, get 10% off") misses them - a simple "we miss you" nudge timed to their lapse point works better.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LOYALTY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This is a retention business, not an acquisition business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548640" y="1645920"/>
            <a:ext cx="5212080" cy="402336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1"/>
          <p:cNvSpPr/>
          <p:nvPr/>
        </p:nvSpPr>
        <p:spPr>
          <a:xfrm>
            <a:off x="548640" y="1920240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1"/>
          <p:cNvSpPr/>
          <p:nvPr/>
        </p:nvSpPr>
        <p:spPr>
          <a:xfrm>
            <a:off x="548640" y="2926080"/>
            <a:ext cx="521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of the customers analyzed 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LONG-TERM (first purchase over a year ago)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548640" y="3931920"/>
            <a:ext cx="5212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Avg. purchase frequency: </a:t>
            </a:r>
            <a:r>
              <a:rPr b="1" i="0" lang="en-US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10.4 orders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Avg. basket size: </a:t>
            </a:r>
            <a:r>
              <a:rPr b="1" i="0" lang="en-US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$7.76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Avg. total spend: </a:t>
            </a:r>
            <a:r>
              <a:rPr b="1" i="0" lang="en-US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$79.82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6126480" y="18288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Almost no new customers show up in this window.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 existing base is doing the heavy lifting - keeping them engaged matters more than chasing new sign-ups right now.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Basket size is modest and steady ($7.76 avg) - loyal customers buy often, not big.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 frequency-reward loyalty program fits this pattern better than a spend-tier program.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2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Four things worth doing next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548640" y="1554480"/>
            <a:ext cx="73152" cy="10515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2"/>
          <p:cNvSpPr/>
          <p:nvPr/>
        </p:nvSpPr>
        <p:spPr>
          <a:xfrm>
            <a:off x="868680" y="155448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Lead USA promotion with proven Rock albums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2"/>
          <p:cNvSpPr/>
          <p:nvPr/>
        </p:nvSpPr>
        <p:spPr>
          <a:xfrm>
            <a:off x="868680" y="196596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Are You Experienced? (Hendrix), From The Muddy Banks of the Wishkah (Nirvana) and The Doors already outsell everything else - the safest bet for ad spend.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2"/>
          <p:cNvSpPr/>
          <p:nvPr/>
        </p:nvSpPr>
        <p:spPr>
          <a:xfrm>
            <a:off x="548640" y="2743200"/>
            <a:ext cx="73152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2"/>
          <p:cNvSpPr/>
          <p:nvPr/>
        </p:nvSpPr>
        <p:spPr>
          <a:xfrm>
            <a:off x="868680" y="27432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Launch a recency-triggered win-back campaign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2"/>
          <p:cNvSpPr/>
          <p:nvPr/>
        </p:nvSpPr>
        <p:spPr>
          <a:xfrm>
            <a:off x="868680" y="315468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37% churn and several high-value lapsed customers point to an automated "we miss you" flow triggered at 60-90 days idle, not a generic discount blast.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2"/>
          <p:cNvSpPr/>
          <p:nvPr/>
        </p:nvSpPr>
        <p:spPr>
          <a:xfrm>
            <a:off x="548640" y="3931920"/>
            <a:ext cx="73152" cy="105156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2"/>
          <p:cNvSpPr/>
          <p:nvPr/>
        </p:nvSpPr>
        <p:spPr>
          <a:xfrm>
            <a:off x="868680" y="39319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Build a frequency-based loyalty program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868680" y="43434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Loyal customers buy often, not big. Reward the 10th purchase, not the $50 cart.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548640" y="5120640"/>
            <a:ext cx="73152" cy="10515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2"/>
          <p:cNvSpPr/>
          <p:nvPr/>
        </p:nvSpPr>
        <p:spPr>
          <a:xfrm>
            <a:off x="868680" y="51206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Use genre and artist pairings for cross-sell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2"/>
          <p:cNvSpPr/>
          <p:nvPr/>
        </p:nvSpPr>
        <p:spPr>
          <a:xfrm>
            <a:off x="868680" y="553212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Metal-Rock and similar pairings are backed by real purchase data - a ready-made "customers also bought" feature.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CAVEATS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What this analysis can't tell us yet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548640" y="1645920"/>
            <a:ext cx="1088136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Small samples: many countries have only 1-2 customers, so per-country averages are directional, not statistically solid.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No age, gender, or payment-method data: the schema doesn't capture these, so demographic and payment-pattern questions are only partly answerable.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Churn window (90 days) and CLV formula are reasonable starting assumptions, not derived from a formal cohort study - worth revisiting as more data comes 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No campaign data exists yet: to measure promotion impact properly, a campaigns table (channel, dates, cost) linked to invoices is needed.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A44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4"/>
          <p:cNvSpPr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2D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B9C2D9"/>
                </a:solidFill>
                <a:latin typeface="Arial"/>
                <a:ea typeface="Arial"/>
                <a:cs typeface="Arial"/>
                <a:sym typeface="Arial"/>
              </a:rPr>
              <a:t>Questions welcome.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4"/>
          <p:cNvSpPr/>
          <p:nvPr/>
        </p:nvSpPr>
        <p:spPr>
          <a:xfrm>
            <a:off x="731520" y="2423160"/>
            <a:ext cx="146304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